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SIVAS UNIVERSITY OF SCIENCE AND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Faculty of Engineering and Natural Sciences - Department of Computer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 Semibold"/>
              </a:defRPr>
            </a:pPr>
            <a:r>
              <a:t>SMART LOGISTICS AND</a:t>
            </a:r>
            <a:br/>
            <a:r>
              <a:t>ROUTE OPTIMIZATION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8BDF8"/>
                </a:solidFill>
                <a:latin typeface="Segoe UI"/>
              </a:defRPr>
            </a:pPr>
            <a:r>
              <a:t>Senior Capstone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Umit Yakup DEDEOGLU  -  Mehmet Yusuf OCAK  -  Sadik Can GULER  -  Senanur KARAGOZ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Advisor: Prof. Dr. Ramazan KATIRCI  |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Segoe UI"/>
              </a:defRPr>
            </a:pPr>
            <a:r>
              <a:t>Problem &amp; Motivation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5029200"/>
          </a:xfrm>
          <a:prstGeom prst="round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Segoe UI"/>
              </a:defRPr>
            </a:pPr>
            <a:r>
              <a:t>Why This System?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- Last-mile delivery = 53% of logistics cost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- Dynamic factors (traffic, weather, accidents)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  are unpredictable -&gt; Delays increase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- Traditional systems use static distance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  matrices -- ignoring real-world conditions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- Our solution: ML delay prediction +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  OR-Tools dynamic route optimization +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  LLM-powered explainable decision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212080" cy="5029200"/>
          </a:xfrm>
          <a:prstGeom prst="round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Segoe UI"/>
              </a:defRPr>
            </a:pPr>
            <a:r>
              <a:t>3 Core Questions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103120"/>
            <a:ext cx="4663440" cy="1097280"/>
          </a:xfrm>
          <a:prstGeom prst="round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What is the delay risk at each stop?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6517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BDF8"/>
                </a:solidFill>
                <a:latin typeface="Segoe UI"/>
              </a:defRPr>
            </a:pPr>
            <a:r>
              <a:t>-&gt; ML Stacking Ensemble (3 models)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474720"/>
            <a:ext cx="4663440" cy="1097280"/>
          </a:xfrm>
          <a:prstGeom prst="round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5661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Which stop order minimizes delay?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0233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DE80"/>
                </a:solidFill>
                <a:latin typeface="Segoe UI"/>
              </a:defRPr>
            </a:pPr>
            <a:r>
              <a:t>-&gt; OR-Tools VRP Optimization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4846320"/>
            <a:ext cx="4663440" cy="1097280"/>
          </a:xfrm>
          <a:prstGeom prst="round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9377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Why was this decision made?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53949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BBF24"/>
                </a:solidFill>
                <a:latin typeface="Segoe UI"/>
              </a:defRPr>
            </a:pPr>
            <a:r>
              <a:t>-&gt; RAG + Llama 3.2 + Hallucination Prevention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Segoe UI"/>
              </a:defRPr>
            </a:pPr>
            <a:r>
              <a:t>System Architecture -- 4 Layers</a:t>
            </a:r>
          </a:p>
        </p:txBody>
      </p:sp>
      <p:pic>
        <p:nvPicPr>
          <p:cNvPr id="3" name="Picture 2" descr="04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6400800" cy="50292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498079" y="1188720"/>
            <a:ext cx="4114800" cy="1097280"/>
          </a:xfrm>
          <a:prstGeom prst="round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0" y="12801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1. Data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164592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Mapbox API + CSV datasets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2423160"/>
            <a:ext cx="4114800" cy="1097280"/>
          </a:xfrm>
          <a:prstGeom prst="round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251460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Segoe UI"/>
              </a:defRPr>
            </a:pPr>
            <a:r>
              <a:t>2. ML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88036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LightGBM + XGBoost + CatBoost</a:t>
            </a:r>
            <a:br/>
            <a:r>
              <a:t>Stacking Ensemble (39 features)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3657600"/>
            <a:ext cx="4114800" cy="1097280"/>
          </a:xfrm>
          <a:prstGeom prst="round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37490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Segoe UI"/>
              </a:defRPr>
            </a:pPr>
            <a:r>
              <a:t>3.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11480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OR-Tools CVRPTW</a:t>
            </a:r>
            <a:br/>
            <a:r>
              <a:t>9-component cost function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4892040"/>
            <a:ext cx="4114800" cy="1097280"/>
          </a:xfrm>
          <a:prstGeom prst="round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498348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4. XAI Explanation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534924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Llama 3.2 + RAG</a:t>
            </a:r>
            <a:br/>
            <a:r>
              <a:t>3-Grader Hallucination Prevention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Segoe UI"/>
              </a:defRPr>
            </a:pPr>
            <a:r>
              <a:t>Machine Learning -- 3 Separate Models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474720" cy="2743200"/>
          </a:xfrm>
          <a:prstGeom prst="round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Classifier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WILL there be a delay?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Output: delay_probability (0-1)</a:t>
            </a:r>
            <a:br/>
            <a:r>
              <a:t>F2-Score optimization</a:t>
            </a:r>
            <a:br/>
            <a:r>
              <a:t>Meta: XGBoost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188720"/>
            <a:ext cx="3474720" cy="2743200"/>
          </a:xfrm>
          <a:prstGeom prst="round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39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Segoe UI"/>
              </a:defRPr>
            </a:pPr>
            <a:r>
              <a:t>P50 Regressor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39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HOW MANY minutes?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39" y="2377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Output: expected_delay_min</a:t>
            </a:r>
            <a:br/>
            <a:r>
              <a:t>Arcsinh transform</a:t>
            </a:r>
            <a:br/>
            <a:r>
              <a:t>Meta: RidgeCV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188720"/>
            <a:ext cx="3474720" cy="2743200"/>
          </a:xfrm>
          <a:prstGeom prst="round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Segoe UI"/>
              </a:defRPr>
            </a:pPr>
            <a:r>
              <a:t>P90 Regressor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WORST-CASE scenario?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377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Output: delay_p90_min</a:t>
            </a:r>
            <a:br/>
            <a:r>
              <a:t>Pinball Loss (a=0.90)</a:t>
            </a:r>
            <a:br/>
            <a:r>
              <a:t>Single LightGBM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10698480" cy="2103120"/>
          </a:xfrm>
          <a:prstGeom prst="round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Stacking Ensemble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8463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Input (39 features) -&gt; LightGBM pred. + XGBoost pred. + CatBoost pred. -&gt; Meta Model -&gt; Final Prediction</a:t>
            </a:r>
            <a:br/>
            <a:br/>
            <a:r>
              <a:t>All 3 algorithms see the same data but use different learning strategies.</a:t>
            </a:r>
            <a:br/>
            <a:r>
              <a:t>The meta model (XGBoost/RidgeCV) combines these predictions into a single robust output.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Segoe UI"/>
              </a:defRPr>
            </a:pPr>
            <a:r>
              <a:t>Model Training -- Reward-Penalty Logic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303520" cy="5029200"/>
          </a:xfrm>
          <a:prstGeom prst="round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Segoe UI"/>
              </a:defRPr>
            </a:pPr>
            <a:r>
              <a:t>Training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1. Data: 5 CSVs -&gt; 39-feature matrix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2. Split: GroupKFold (route-based 60/20/20)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3. HPO: Optuna Bayesian Optimization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 (100 trials LightGBM, 60 XGB, 60 CatBoost)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4. Stacking: 3 base models -&gt; Meta model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5. Calibration: IsotonicRegression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6. P90: LightGBM quantile (a=0.90)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7. Threshold: F2-Score maximization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029200" cy="5029200"/>
          </a:xfrm>
          <a:prstGeom prst="round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Segoe UI"/>
              </a:defRPr>
            </a:pPr>
            <a:r>
              <a:t>Reward-Penalty Mechanisms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920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Weighted Penalty (x3)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2402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Delays &gt;=15min get 3x sample_weight</a:t>
            </a:r>
            <a:br/>
            <a:r>
              <a:t>Never miss critical risks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F2-Score (B=2)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337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2x weight on Recall</a:t>
            </a:r>
            <a:br/>
            <a:r>
              <a:t>Missing a delay &gt; false alarm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Pinball Loss (P90)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4348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Under-prediction penalty is 9x heavier</a:t>
            </a:r>
            <a:br/>
            <a:r>
              <a:t>System is deliberately conservative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52120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Cascade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553211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30% risk transfer to next stop</a:t>
            </a:r>
            <a:br/>
            <a:r>
              <a:t>after a high-risk stop (domino effect)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Segoe UI"/>
              </a:defRPr>
            </a:pPr>
            <a:r>
              <a:t>OR-Tools -- Route Optimization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303520" cy="5029200"/>
          </a:xfrm>
          <a:prstGeom prst="round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Segoe UI"/>
              </a:defRPr>
            </a:pPr>
            <a: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1. Mapbox -&gt; real travel times (NxN matrix)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2. ML -&gt; delay prediction per stop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3. 9-component cost function: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 Travel time + ML delay + Traffic penalty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 + Accident + Weather + Risk penalty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 + Time window + Priority penalty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 + Road closure penalty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4. VRP solver finds lowest-cost order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Adaptive time: &lt;=5 stops-&gt;2s, &lt;=20-&gt;15s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Drop penalty: 10 billion (never skip a stop)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029200" cy="2743200"/>
          </a:xfrm>
          <a:prstGeom prst="round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Segoe UI"/>
              </a:defRPr>
            </a:pPr>
            <a:r>
              <a:t>Optimization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920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Scenario             Original    Optimized   Savings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286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Normal conditions    87.3 min     74.2 min     15.0%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Heavy traffic        142.6 min    118.9 min    16.6%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Bad weather          128.4 min    108.7 min    15.3%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383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Accident scenario    165.2 min    139.3 min    15.7%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206240"/>
            <a:ext cx="5029200" cy="2011680"/>
          </a:xfrm>
          <a:prstGeom prst="round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Segoe UI"/>
              </a:defRPr>
            </a:pPr>
            <a:r>
              <a:t>Backend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84632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- Missing/extra stops -&gt; Validated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- Worse route -&gt; Baseline comparison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- Drop penalty = 10B (stops never skipped)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- Duplicate stop -&gt; Index-level blocking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Segoe UI"/>
              </a:defRPr>
            </a:pPr>
            <a:r>
              <a:t>RAG + Hallucination Prevention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303520" cy="5029200"/>
          </a:xfrm>
          <a:prstGeom prst="round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Segoe UI"/>
              </a:defRPr>
            </a:pPr>
            <a:r>
              <a:t>5-Step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1. Deterministic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Mathematical explanation always 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2. TF-IDF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8 documents -&gt; cosine similarity -&gt; top_k=2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4903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3. Ollama Llama 3.2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6907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Context + backend data -&gt; natural 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6634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4. Hallucination Grading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83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Delay direction + order change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577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5. Safe Fallback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897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If any check fails -&gt; deterministic explanation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188720"/>
            <a:ext cx="5029200" cy="5029200"/>
          </a:xfrm>
          <a:prstGeom prst="round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Segoe UI"/>
              </a:defRPr>
            </a:pPr>
            <a:r>
              <a:t>3 Grader Mechanisms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2011680"/>
            <a:ext cx="4663440" cy="1371600"/>
          </a:xfrm>
          <a:prstGeom prst="round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1031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Retrieval Grader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42316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Is retrieved context relevant?</a:t>
            </a:r>
            <a:br/>
            <a:r>
              <a:t>TF-IDF score &gt; 0.15 check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3566160"/>
            <a:ext cx="4663440" cy="1371600"/>
          </a:xfrm>
          <a:prstGeom prst="round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36576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Segoe UI"/>
              </a:defRPr>
            </a:pPr>
            <a:r>
              <a:t>Hallucination Grader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97764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Backend: delay increased +5min</a:t>
            </a:r>
            <a:br/>
            <a:r>
              <a:t>AI: 'delay decreased' -&gt; BLOCK</a:t>
            </a:r>
            <a:br/>
            <a:br/>
            <a:r>
              <a:t>Backend: order unchanged</a:t>
            </a:r>
            <a:br/>
            <a:r>
              <a:t>AI: 'order changed' -&gt; BLOCK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5120640"/>
            <a:ext cx="4663440" cy="1371600"/>
          </a:xfrm>
          <a:prstGeom prst="round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52120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E80"/>
                </a:solidFill>
                <a:latin typeface="Segoe UI"/>
              </a:defRPr>
            </a:pPr>
            <a:r>
              <a:t>Answer Grader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553212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5-100 word length check</a:t>
            </a:r>
            <a:br/>
            <a:r>
              <a:t>Operational keyword validation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Segoe UI"/>
              </a:defRPr>
            </a:pPr>
            <a:r>
              <a:t>Test Results -- ML Performance</a:t>
            </a:r>
          </a:p>
        </p:txBody>
      </p:sp>
      <p:pic>
        <p:nvPicPr>
          <p:cNvPr id="3" name="Picture 2" descr="01_ml_model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548640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583680" y="1097280"/>
            <a:ext cx="4846320" cy="868680"/>
          </a:xfrm>
          <a:prstGeom prst="round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0" y="1143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MAE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143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Segoe UI"/>
              </a:defRPr>
            </a:pPr>
            <a:r>
              <a:t>5.36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5544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Mean absolute error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103120"/>
            <a:ext cx="4846320" cy="868680"/>
          </a:xfrm>
          <a:prstGeom prst="round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R2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Segoe UI"/>
              </a:defRPr>
            </a:pPr>
            <a:r>
              <a:t>0.921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5603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92% of variance explained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3108960"/>
            <a:ext cx="4846320" cy="868680"/>
          </a:xfrm>
          <a:prstGeom prst="round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3154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AUC-ROC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154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Segoe UI"/>
              </a:defRPr>
            </a:pPr>
            <a:r>
              <a:t>0.91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5661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Classification performance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4114800"/>
            <a:ext cx="4846320" cy="868680"/>
          </a:xfrm>
          <a:prstGeom prst="round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4160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F2-Score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160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Segoe UI"/>
              </a:defRPr>
            </a:pPr>
            <a:r>
              <a:t>0.881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5720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Recall-weighted F-score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5120640"/>
            <a:ext cx="4846320" cy="868680"/>
          </a:xfrm>
          <a:prstGeom prst="round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5166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P90 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5166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Segoe UI"/>
              </a:defRPr>
            </a:pPr>
            <a:r>
              <a:t>88.97%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55778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Target: 90% (very close)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Segoe UI"/>
              </a:defRPr>
            </a:pPr>
            <a:r>
              <a:t>Feature Importance &amp; P50 vs P90</a:t>
            </a:r>
          </a:p>
        </p:txBody>
      </p:sp>
      <p:pic>
        <p:nvPicPr>
          <p:cNvPr id="3" name="Picture 2" descr="actual_vs_predicted_de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486400" cy="4846320"/>
          </a:xfrm>
          <a:prstGeom prst="rect">
            <a:avLst/>
          </a:prstGeom>
        </p:spPr>
      </p:pic>
      <p:pic>
        <p:nvPicPr>
          <p:cNvPr id="4" name="Picture 3" descr="02_p50_vs_p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4864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8BDF8"/>
                </a:solidFill>
                <a:latin typeface="Segoe UI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Real-time system demonstration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4572000"/>
            <a:ext cx="7589520" cy="1645920"/>
          </a:xfrm>
          <a:prstGeom prst="round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0" y="4754880"/>
            <a:ext cx="7040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1  Dashboard -&gt; Route/Courier View          2  Run Optimization</a:t>
            </a:r>
            <a:br/>
            <a:r>
              <a:t>3  Scenario: Traffic=80, Accident=70        4  AI Explanation + Grader Check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Demo 1 -- Dashboard &amp; Route Selection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698480" cy="5029200"/>
          </a:xfrm>
          <a:prstGeom prst="round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Left panel: Active routes and courier list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Map: Mapbox GL with real road geometry, risk color codes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 (Green = low risk, Orange = medium, Red = high)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DEMO: Select a route from the list -&gt; Navigate to Route Planner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Right panel: Total stops, distance, risk distribution stats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 Not yet optimized -&gt; 'Planned' state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Demo 2-3 -- Optimization &amp; Scenario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303520" cy="5029200"/>
          </a:xfrm>
          <a:prstGeom prst="round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Segoe UI"/>
              </a:defRPr>
            </a:pPr>
            <a:r>
              <a:t>2  Run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Click 'Run Pre-dispatch Optimization'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While waiting, explain: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 'ML predicts with 39 features'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 'Mapbox calculates travel times'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 'OR-Tools finds the best order'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When results arrive: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 Blue line = new route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 Dashed = old plan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 Cost comparison on the right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029200" cy="5029200"/>
          </a:xfrm>
          <a:prstGeom prst="round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Segoe UI"/>
              </a:defRPr>
            </a:pPr>
            <a:r>
              <a:t>3  Scenario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Go to Live Monitor / Scenario page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Slider settings: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 Traffic Density -&gt; 80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 Accident Severity -&gt; 70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 Weather -&gt; 50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Click 'Optimize' or 'Compare'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Commentary: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 'When traffic and accidents increase,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 the system suggests a different stop order.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   The new route is X% lower cost.'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Demo 4 -- AI Explanation &amp; Reliability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698480" cy="5029200"/>
          </a:xfrm>
          <a:prstGeom prst="round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Show the AI Explanation panel: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   'This explanation is generated by Llama 3.2. Not just nice sentences --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    it is grounded in backend data and hallucination-checked.'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Show the Grader status: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   'Hallucination Risk: LOW -&gt; AI output is consistent with backend data'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   'If it were HIGH, the system would automatically switch to deterministic explanation.'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Closing statement: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   'In this system, AI supports the decision process.'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   'But the route decision is produced by mathematical optimization,'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   'validated by the backend, and explained by AI.'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   'Producing false information is structurally impossible.'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8BDF8"/>
                </a:solidFill>
                <a:latin typeface="Segoe UI"/>
              </a:defRPr>
            </a:pPr>
            <a:r>
              <a:t>Smart Logistics and Route Optimization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3840480"/>
            <a:ext cx="6675120" cy="2286000"/>
          </a:xfrm>
          <a:prstGeom prst="round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0" y="4023360"/>
            <a:ext cx="6126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ML Stacking Ensemble: MAE 5.36min, R2=0.921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OR-Tools CVRPTW: Average 15.6% cost savings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RAG + 3 Graders: 94% hallucination detection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End-to-end pipeline: &lt;1 second (excl. LLM)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008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We are happy to take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